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8" r:id="rId7"/>
    <p:sldId id="269"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93" d="100"/>
          <a:sy n="93" d="100"/>
        </p:scale>
        <p:origin x="53"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dirty="0"/>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81837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dirty="0"/>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66270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49098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11738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62030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93156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0783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dirty="0"/>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67476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76479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dirty="0"/>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03478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dirty="0"/>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85854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dirty="0"/>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937083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dirty="0"/>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765009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dirty="0"/>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067786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806089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83231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4/24/2025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6960539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FFCB0A-A21A-4D0F-AE1C-6EC8ED79A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3">
            <a:extLst>
              <a:ext uri="{FF2B5EF4-FFF2-40B4-BE49-F238E27FC236}">
                <a16:creationId xmlns:a16="http://schemas.microsoft.com/office/drawing/2014/main" id="{481DDC0B-F2D9-4A55-A60C-E0532B46C9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4" name="Freeform 11">
              <a:extLst>
                <a:ext uri="{FF2B5EF4-FFF2-40B4-BE49-F238E27FC236}">
                  <a16:creationId xmlns:a16="http://schemas.microsoft.com/office/drawing/2014/main" id="{60C4C88B-2AA4-43CA-9F8F-3FB2B5D7D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5" name="Freeform 12">
              <a:extLst>
                <a:ext uri="{FF2B5EF4-FFF2-40B4-BE49-F238E27FC236}">
                  <a16:creationId xmlns:a16="http://schemas.microsoft.com/office/drawing/2014/main" id="{1E062DFF-2E6B-420E-AEFE-FB8082B29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6" name="Freeform 13">
              <a:extLst>
                <a:ext uri="{FF2B5EF4-FFF2-40B4-BE49-F238E27FC236}">
                  <a16:creationId xmlns:a16="http://schemas.microsoft.com/office/drawing/2014/main" id="{37DD0A2B-B295-4280-B8DA-0DC58312C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7" name="Freeform 14">
              <a:extLst>
                <a:ext uri="{FF2B5EF4-FFF2-40B4-BE49-F238E27FC236}">
                  <a16:creationId xmlns:a16="http://schemas.microsoft.com/office/drawing/2014/main" id="{83B6198C-5321-4CBD-A21D-B413234BF8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8" name="Freeform 15">
              <a:extLst>
                <a:ext uri="{FF2B5EF4-FFF2-40B4-BE49-F238E27FC236}">
                  <a16:creationId xmlns:a16="http://schemas.microsoft.com/office/drawing/2014/main" id="{CA21CB5E-7E99-4448-8DD0-FA87EAC3C0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9" name="Freeform 16">
              <a:extLst>
                <a:ext uri="{FF2B5EF4-FFF2-40B4-BE49-F238E27FC236}">
                  <a16:creationId xmlns:a16="http://schemas.microsoft.com/office/drawing/2014/main" id="{5675BC7F-097E-4C82-8B98-05F11E34FF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20" name="Freeform 17">
              <a:extLst>
                <a:ext uri="{FF2B5EF4-FFF2-40B4-BE49-F238E27FC236}">
                  <a16:creationId xmlns:a16="http://schemas.microsoft.com/office/drawing/2014/main" id="{CF36D428-039F-4D57-83E9-C9E49A8EEF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1" name="Freeform 18">
              <a:extLst>
                <a:ext uri="{FF2B5EF4-FFF2-40B4-BE49-F238E27FC236}">
                  <a16:creationId xmlns:a16="http://schemas.microsoft.com/office/drawing/2014/main" id="{9C846992-7277-412B-8F89-BF12BBBBE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2" name="Freeform 19">
              <a:extLst>
                <a:ext uri="{FF2B5EF4-FFF2-40B4-BE49-F238E27FC236}">
                  <a16:creationId xmlns:a16="http://schemas.microsoft.com/office/drawing/2014/main" id="{2FFB1517-7128-4059-90D1-7FE4A5155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3" name="Freeform 20">
              <a:extLst>
                <a:ext uri="{FF2B5EF4-FFF2-40B4-BE49-F238E27FC236}">
                  <a16:creationId xmlns:a16="http://schemas.microsoft.com/office/drawing/2014/main" id="{C0835D29-A969-4B36-823D-2041358537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4" name="Freeform 21">
              <a:extLst>
                <a:ext uri="{FF2B5EF4-FFF2-40B4-BE49-F238E27FC236}">
                  <a16:creationId xmlns:a16="http://schemas.microsoft.com/office/drawing/2014/main" id="{E513FF63-116C-4620-AA46-03788BE5F1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5" name="Freeform 22">
              <a:extLst>
                <a:ext uri="{FF2B5EF4-FFF2-40B4-BE49-F238E27FC236}">
                  <a16:creationId xmlns:a16="http://schemas.microsoft.com/office/drawing/2014/main" id="{EF361EF8-880C-41F9-8051-9F05A8C20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sp>
        <p:nvSpPr>
          <p:cNvPr id="2" name="Title 1"/>
          <p:cNvSpPr>
            <a:spLocks noGrp="1"/>
          </p:cNvSpPr>
          <p:nvPr>
            <p:ph type="ctrTitle"/>
          </p:nvPr>
        </p:nvSpPr>
        <p:spPr>
          <a:xfrm>
            <a:off x="2589213" y="590387"/>
            <a:ext cx="8915399" cy="1162423"/>
          </a:xfrm>
        </p:spPr>
        <p:txBody>
          <a:bodyPr>
            <a:normAutofit/>
          </a:bodyPr>
          <a:lstStyle/>
          <a:p>
            <a:r>
              <a:rPr lang="en-US" b="1" dirty="0">
                <a:solidFill>
                  <a:schemeClr val="bg2">
                    <a:lumMod val="49000"/>
                  </a:schemeClr>
                </a:solidFill>
              </a:rPr>
              <a:t>2D Flappy Bird Game</a:t>
            </a:r>
          </a:p>
        </p:txBody>
      </p:sp>
      <p:sp>
        <p:nvSpPr>
          <p:cNvPr id="3" name="Subtitle 2"/>
          <p:cNvSpPr>
            <a:spLocks noGrp="1"/>
          </p:cNvSpPr>
          <p:nvPr>
            <p:ph type="subTitle" idx="1"/>
          </p:nvPr>
        </p:nvSpPr>
        <p:spPr>
          <a:xfrm>
            <a:off x="7049862" y="3530788"/>
            <a:ext cx="8915399" cy="1814944"/>
          </a:xfrm>
        </p:spPr>
        <p:txBody>
          <a:bodyPr>
            <a:normAutofit/>
          </a:bodyPr>
          <a:lstStyle/>
          <a:p>
            <a:r>
              <a:rPr lang="en-US" b="1" dirty="0"/>
              <a:t>G.Varshini-AP23110011567</a:t>
            </a:r>
          </a:p>
          <a:p>
            <a:r>
              <a:rPr lang="en-US" b="1" dirty="0"/>
              <a:t>D.Gopika-AP23110011571</a:t>
            </a:r>
          </a:p>
          <a:p>
            <a:r>
              <a:rPr lang="en-US" b="1" dirty="0"/>
              <a:t>B.Poojitha-AP23110011560</a:t>
            </a:r>
          </a:p>
        </p:txBody>
      </p:sp>
      <p:grpSp>
        <p:nvGrpSpPr>
          <p:cNvPr id="27" name="Group 60">
            <a:extLst>
              <a:ext uri="{FF2B5EF4-FFF2-40B4-BE49-F238E27FC236}">
                <a16:creationId xmlns:a16="http://schemas.microsoft.com/office/drawing/2014/main" id="{FBF9A995-2C32-4FB7-B5F3-E417B7DE06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8" name="Freeform 61">
              <a:extLst>
                <a:ext uri="{FF2B5EF4-FFF2-40B4-BE49-F238E27FC236}">
                  <a16:creationId xmlns:a16="http://schemas.microsoft.com/office/drawing/2014/main" id="{0F4ECCFB-A0C2-4B4D-B6E2-77341F6FE1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9" name="Freeform 62">
              <a:extLst>
                <a:ext uri="{FF2B5EF4-FFF2-40B4-BE49-F238E27FC236}">
                  <a16:creationId xmlns:a16="http://schemas.microsoft.com/office/drawing/2014/main" id="{5476CBB8-CCD6-4739-8729-8927DC09D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30" name="Freeform 63">
              <a:extLst>
                <a:ext uri="{FF2B5EF4-FFF2-40B4-BE49-F238E27FC236}">
                  <a16:creationId xmlns:a16="http://schemas.microsoft.com/office/drawing/2014/main" id="{695B716E-8BF4-4DD9-96A5-4238FDC07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1" name="Freeform 64">
              <a:extLst>
                <a:ext uri="{FF2B5EF4-FFF2-40B4-BE49-F238E27FC236}">
                  <a16:creationId xmlns:a16="http://schemas.microsoft.com/office/drawing/2014/main" id="{6A3F7DBC-E3BC-4902-BE4C-6F3542E33D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2" name="Freeform 65">
              <a:extLst>
                <a:ext uri="{FF2B5EF4-FFF2-40B4-BE49-F238E27FC236}">
                  <a16:creationId xmlns:a16="http://schemas.microsoft.com/office/drawing/2014/main" id="{70379707-5601-41BA-8F25-82825A8E3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3" name="Freeform 66">
              <a:extLst>
                <a:ext uri="{FF2B5EF4-FFF2-40B4-BE49-F238E27FC236}">
                  <a16:creationId xmlns:a16="http://schemas.microsoft.com/office/drawing/2014/main" id="{1C7E7640-A719-4104-8E66-10B2FB8487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4" name="Freeform 67">
              <a:extLst>
                <a:ext uri="{FF2B5EF4-FFF2-40B4-BE49-F238E27FC236}">
                  <a16:creationId xmlns:a16="http://schemas.microsoft.com/office/drawing/2014/main" id="{9A4C4222-3F93-463D-9B22-69ECBF8E05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5" name="Freeform 68">
              <a:extLst>
                <a:ext uri="{FF2B5EF4-FFF2-40B4-BE49-F238E27FC236}">
                  <a16:creationId xmlns:a16="http://schemas.microsoft.com/office/drawing/2014/main" id="{B263D752-00B8-466F-A4DD-D4F58CAE12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6" name="Freeform 69">
              <a:extLst>
                <a:ext uri="{FF2B5EF4-FFF2-40B4-BE49-F238E27FC236}">
                  <a16:creationId xmlns:a16="http://schemas.microsoft.com/office/drawing/2014/main" id="{45470F50-BCB7-4793-B6EE-C07E57794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7" name="Freeform 70">
              <a:extLst>
                <a:ext uri="{FF2B5EF4-FFF2-40B4-BE49-F238E27FC236}">
                  <a16:creationId xmlns:a16="http://schemas.microsoft.com/office/drawing/2014/main" id="{3FE3B154-4827-4A59-B611-C15FE0930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8" name="Freeform 71">
              <a:extLst>
                <a:ext uri="{FF2B5EF4-FFF2-40B4-BE49-F238E27FC236}">
                  <a16:creationId xmlns:a16="http://schemas.microsoft.com/office/drawing/2014/main" id="{4856C74D-7893-4686-8C69-93ADFAD947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9" name="Freeform 72">
              <a:extLst>
                <a:ext uri="{FF2B5EF4-FFF2-40B4-BE49-F238E27FC236}">
                  <a16:creationId xmlns:a16="http://schemas.microsoft.com/office/drawing/2014/main" id="{D9855B44-5A4E-48D3-B20E-74C69EF51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1" name="Rectangle 40">
            <a:extLst>
              <a:ext uri="{FF2B5EF4-FFF2-40B4-BE49-F238E27FC236}">
                <a16:creationId xmlns:a16="http://schemas.microsoft.com/office/drawing/2014/main" id="{4DF306C4-90F2-4BFE-B2AD-FAFB31C4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pic>
        <p:nvPicPr>
          <p:cNvPr id="5" name="Picture 4" descr="A cartoon bird with a hat&#10;&#10;AI-generated content may be incorrect.">
            <a:extLst>
              <a:ext uri="{FF2B5EF4-FFF2-40B4-BE49-F238E27FC236}">
                <a16:creationId xmlns:a16="http://schemas.microsoft.com/office/drawing/2014/main" id="{91863ADA-3D95-63B1-C083-FE5101A6F339}"/>
              </a:ext>
            </a:extLst>
          </p:cNvPr>
          <p:cNvPicPr>
            <a:picLocks noChangeAspect="1"/>
          </p:cNvPicPr>
          <p:nvPr/>
        </p:nvPicPr>
        <p:blipFill>
          <a:blip r:embed="rId2"/>
          <a:srcRect l="5509" t="3930" r="3840" b="8418"/>
          <a:stretch/>
        </p:blipFill>
        <p:spPr>
          <a:xfrm>
            <a:off x="1995110" y="2279057"/>
            <a:ext cx="3508339" cy="2507461"/>
          </a:xfrm>
          <a:prstGeom prst="rect">
            <a:avLst/>
          </a:prstGeom>
        </p:spPr>
      </p:pic>
      <p:pic>
        <p:nvPicPr>
          <p:cNvPr id="6" name="Picture 5" descr="A black and white text&#10;&#10;AI-generated content may be incorrect.">
            <a:extLst>
              <a:ext uri="{FF2B5EF4-FFF2-40B4-BE49-F238E27FC236}">
                <a16:creationId xmlns:a16="http://schemas.microsoft.com/office/drawing/2014/main" id="{5CD43958-95FA-40D1-CB7E-FAA1277BD604}"/>
              </a:ext>
            </a:extLst>
          </p:cNvPr>
          <p:cNvPicPr>
            <a:picLocks noChangeAspect="1"/>
          </p:cNvPicPr>
          <p:nvPr/>
        </p:nvPicPr>
        <p:blipFill>
          <a:blip r:embed="rId3"/>
          <a:stretch>
            <a:fillRect/>
          </a:stretch>
        </p:blipFill>
        <p:spPr>
          <a:xfrm>
            <a:off x="1999242" y="4757782"/>
            <a:ext cx="3857051" cy="1166280"/>
          </a:xfrm>
          <a:prstGeom prst="rect">
            <a:avLst/>
          </a:prstGeom>
        </p:spPr>
      </p:pic>
      <p:sp>
        <p:nvSpPr>
          <p:cNvPr id="43" name="Freeform 33">
            <a:extLst>
              <a:ext uri="{FF2B5EF4-FFF2-40B4-BE49-F238E27FC236}">
                <a16:creationId xmlns:a16="http://schemas.microsoft.com/office/drawing/2014/main" id="{AA07F762-5743-4CB0-9102-37CFC56F2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753578"/>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5F2AF-680D-F7E7-2234-5639345BCCD1}"/>
              </a:ext>
            </a:extLst>
          </p:cNvPr>
          <p:cNvSpPr>
            <a:spLocks noGrp="1"/>
          </p:cNvSpPr>
          <p:nvPr>
            <p:ph type="title"/>
          </p:nvPr>
        </p:nvSpPr>
        <p:spPr>
          <a:xfrm>
            <a:off x="2592925" y="1478785"/>
            <a:ext cx="8911687" cy="1136728"/>
          </a:xfrm>
        </p:spPr>
        <p:txBody>
          <a:bodyPr/>
          <a:lstStyle/>
          <a:p>
            <a:r>
              <a:rPr lang="en-US" b="1" dirty="0">
                <a:solidFill>
                  <a:schemeClr val="accent1"/>
                </a:solidFill>
                <a:latin typeface="Comic Sans MS" panose="030F0702030302020204" pitchFamily="66" charset="0"/>
              </a:rPr>
              <a:t>Introduction</a:t>
            </a:r>
          </a:p>
        </p:txBody>
      </p:sp>
      <p:sp>
        <p:nvSpPr>
          <p:cNvPr id="3" name="Content Placeholder 2">
            <a:extLst>
              <a:ext uri="{FF2B5EF4-FFF2-40B4-BE49-F238E27FC236}">
                <a16:creationId xmlns:a16="http://schemas.microsoft.com/office/drawing/2014/main" id="{A693312A-BD79-E528-B293-A038A218F39F}"/>
              </a:ext>
            </a:extLst>
          </p:cNvPr>
          <p:cNvSpPr>
            <a:spLocks noGrp="1"/>
          </p:cNvSpPr>
          <p:nvPr>
            <p:ph idx="1"/>
          </p:nvPr>
        </p:nvSpPr>
        <p:spPr>
          <a:xfrm>
            <a:off x="2589212" y="3153032"/>
            <a:ext cx="8915400" cy="2758190"/>
          </a:xfrm>
        </p:spPr>
        <p:txBody>
          <a:bodyPr vert="horz" lIns="91440" tIns="45720" rIns="91440" bIns="45720" rtlCol="0" anchor="t">
            <a:normAutofit/>
          </a:bodyPr>
          <a:lstStyle/>
          <a:p>
            <a:pPr marL="0" indent="0">
              <a:buNone/>
            </a:pPr>
            <a:r>
              <a:rPr lang="en-US" sz="2000" b="1" dirty="0">
                <a:latin typeface="Comic Sans MS" panose="030F0702030302020204" pitchFamily="66" charset="0"/>
                <a:ea typeface="+mn-lt"/>
                <a:cs typeface="+mn-lt"/>
              </a:rPr>
              <a:t>The Flappy Bird game is a popular side-scrolling mobile game that gained widespread popularity due to its simple yet addictive gameplay, In the game, the player controls a bird, guiding it through</a:t>
            </a:r>
            <a:endParaRPr lang="en-US" sz="2000" b="1" dirty="0">
              <a:latin typeface="Comic Sans MS" panose="030F0702030302020204" pitchFamily="66" charset="0"/>
            </a:endParaRPr>
          </a:p>
          <a:p>
            <a:pPr marL="0" indent="0">
              <a:buNone/>
            </a:pPr>
            <a:r>
              <a:rPr lang="en-US" sz="2000" b="1" dirty="0">
                <a:latin typeface="Comic Sans MS" panose="030F0702030302020204" pitchFamily="66" charset="0"/>
                <a:ea typeface="+mn-lt"/>
                <a:cs typeface="+mn-lt"/>
              </a:rPr>
              <a:t>a series of green pipes that have gaps in them. The objective is to navigate the bird through the gaps by tapping on the screen or pressing a key to make the bird flap its wings, causing it to ascend momentarily.</a:t>
            </a:r>
            <a:endParaRPr lang="en-US" b="1" dirty="0">
              <a:latin typeface="Comic Sans MS" panose="030F0702030302020204" pitchFamily="66" charset="0"/>
            </a:endParaRPr>
          </a:p>
          <a:p>
            <a:endParaRPr lang="en-US" dirty="0"/>
          </a:p>
        </p:txBody>
      </p:sp>
    </p:spTree>
    <p:extLst>
      <p:ext uri="{BB962C8B-B14F-4D97-AF65-F5344CB8AC3E}">
        <p14:creationId xmlns:p14="http://schemas.microsoft.com/office/powerpoint/2010/main" val="1083659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CEB82-069B-3CF7-389F-D7CCB78492EE}"/>
              </a:ext>
            </a:extLst>
          </p:cNvPr>
          <p:cNvSpPr>
            <a:spLocks noGrp="1"/>
          </p:cNvSpPr>
          <p:nvPr>
            <p:ph type="title"/>
          </p:nvPr>
        </p:nvSpPr>
        <p:spPr>
          <a:xfrm>
            <a:off x="2096537" y="953034"/>
            <a:ext cx="8911687" cy="1054350"/>
          </a:xfrm>
        </p:spPr>
        <p:txBody>
          <a:bodyPr/>
          <a:lstStyle/>
          <a:p>
            <a:r>
              <a:rPr lang="en-US" b="1" dirty="0">
                <a:solidFill>
                  <a:schemeClr val="accent1"/>
                </a:solidFill>
                <a:latin typeface="Comic Sans MS" panose="030F0702030302020204" pitchFamily="66" charset="0"/>
              </a:rPr>
              <a:t>Project Objective</a:t>
            </a:r>
          </a:p>
        </p:txBody>
      </p:sp>
      <p:sp>
        <p:nvSpPr>
          <p:cNvPr id="3" name="Content Placeholder 2">
            <a:extLst>
              <a:ext uri="{FF2B5EF4-FFF2-40B4-BE49-F238E27FC236}">
                <a16:creationId xmlns:a16="http://schemas.microsoft.com/office/drawing/2014/main" id="{83CF939D-1FE6-FCA1-9ABF-C1D5AC7E11D9}"/>
              </a:ext>
            </a:extLst>
          </p:cNvPr>
          <p:cNvSpPr>
            <a:spLocks noGrp="1"/>
          </p:cNvSpPr>
          <p:nvPr>
            <p:ph idx="1"/>
          </p:nvPr>
        </p:nvSpPr>
        <p:spPr>
          <a:xfrm>
            <a:off x="2589212" y="2679356"/>
            <a:ext cx="8915400" cy="2850866"/>
          </a:xfrm>
        </p:spPr>
        <p:txBody>
          <a:bodyPr vert="horz" lIns="91440" tIns="45720" rIns="91440" bIns="45720" rtlCol="0" anchor="t">
            <a:normAutofit/>
          </a:bodyPr>
          <a:lstStyle/>
          <a:p>
            <a:r>
              <a:rPr lang="en-US" sz="2000" b="1" dirty="0">
                <a:latin typeface="Comic Sans MS" panose="030F0702030302020204" pitchFamily="66" charset="0"/>
                <a:ea typeface="+mn-lt"/>
                <a:cs typeface="+mn-lt"/>
              </a:rPr>
              <a:t>Our objective for this project is to increase features of original classic game .We try to create user-friendly interfaces to allow user better understand the game instructions and workflows. The game allows users to choose playing modes and background settings, and to control bird using touchscreen or keyboard buttons. It also contains a score board function to track previous history.</a:t>
            </a:r>
            <a:endParaRPr lang="en-US" b="1" dirty="0">
              <a:latin typeface="Comic Sans MS" panose="030F0702030302020204" pitchFamily="66" charset="0"/>
            </a:endParaRPr>
          </a:p>
        </p:txBody>
      </p:sp>
    </p:spTree>
    <p:extLst>
      <p:ext uri="{BB962C8B-B14F-4D97-AF65-F5344CB8AC3E}">
        <p14:creationId xmlns:p14="http://schemas.microsoft.com/office/powerpoint/2010/main" val="2641067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DE87-1A77-B4B3-D8AA-0E7BE00272F7}"/>
              </a:ext>
            </a:extLst>
          </p:cNvPr>
          <p:cNvSpPr>
            <a:spLocks noGrp="1"/>
          </p:cNvSpPr>
          <p:nvPr>
            <p:ph type="title"/>
          </p:nvPr>
        </p:nvSpPr>
        <p:spPr>
          <a:xfrm>
            <a:off x="2592925" y="1695028"/>
            <a:ext cx="8911687" cy="209972"/>
          </a:xfrm>
        </p:spPr>
        <p:txBody>
          <a:bodyPr>
            <a:normAutofit fontScale="90000"/>
          </a:bodyPr>
          <a:lstStyle/>
          <a:p>
            <a:r>
              <a:rPr lang="en-US" b="1" dirty="0">
                <a:solidFill>
                  <a:schemeClr val="accent1"/>
                </a:solidFill>
                <a:latin typeface="Comic Sans MS" panose="030F0702030302020204" pitchFamily="66" charset="0"/>
              </a:rPr>
              <a:t>Design</a:t>
            </a:r>
          </a:p>
        </p:txBody>
      </p:sp>
      <p:sp>
        <p:nvSpPr>
          <p:cNvPr id="3" name="Content Placeholder 2">
            <a:extLst>
              <a:ext uri="{FF2B5EF4-FFF2-40B4-BE49-F238E27FC236}">
                <a16:creationId xmlns:a16="http://schemas.microsoft.com/office/drawing/2014/main" id="{2EF0B38F-4434-E566-0305-A87ABC869CD4}"/>
              </a:ext>
            </a:extLst>
          </p:cNvPr>
          <p:cNvSpPr>
            <a:spLocks noGrp="1"/>
          </p:cNvSpPr>
          <p:nvPr>
            <p:ph idx="1"/>
          </p:nvPr>
        </p:nvSpPr>
        <p:spPr>
          <a:xfrm>
            <a:off x="2589212" y="2741140"/>
            <a:ext cx="8915400" cy="3170082"/>
          </a:xfrm>
        </p:spPr>
        <p:txBody>
          <a:bodyPr vert="horz" lIns="91440" tIns="45720" rIns="91440" bIns="45720" rtlCol="0" anchor="t">
            <a:normAutofit fontScale="85000" lnSpcReduction="20000"/>
          </a:bodyPr>
          <a:lstStyle/>
          <a:p>
            <a:r>
              <a:rPr lang="en-US" sz="2000" b="1" dirty="0">
                <a:latin typeface="Comic Sans MS" panose="030F0702030302020204" pitchFamily="66" charset="0"/>
                <a:ea typeface="+mn-lt"/>
                <a:cs typeface="+mn-lt"/>
              </a:rPr>
              <a:t>Our design process is to first create all static interfaces and buttons associated with current interface. Then we started to create single player mode, including pipe and background shifting, bird falling or jumping, score and life tracking, sound effect. Then we tried to add extra new features like</a:t>
            </a:r>
          </a:p>
          <a:p>
            <a:r>
              <a:rPr lang="en-US" sz="2000" b="1" dirty="0">
                <a:latin typeface="Comic Sans MS" panose="030F0702030302020204" pitchFamily="66" charset="0"/>
                <a:ea typeface="+mn-lt"/>
                <a:cs typeface="+mn-lt"/>
              </a:rPr>
              <a:t> </a:t>
            </a:r>
            <a:r>
              <a:rPr lang="en-US" sz="2000" b="1" dirty="0" err="1">
                <a:latin typeface="Comic Sans MS" panose="030F0702030302020204" pitchFamily="66" charset="0"/>
                <a:ea typeface="+mn-lt"/>
                <a:cs typeface="+mn-lt"/>
              </a:rPr>
              <a:t>Theme-toggling:Dark</a:t>
            </a:r>
            <a:r>
              <a:rPr lang="en-US" sz="2000" b="1" dirty="0">
                <a:latin typeface="Comic Sans MS" panose="030F0702030302020204" pitchFamily="66" charset="0"/>
                <a:ea typeface="+mn-lt"/>
                <a:cs typeface="+mn-lt"/>
              </a:rPr>
              <a:t> </a:t>
            </a:r>
            <a:r>
              <a:rPr lang="en-US" sz="2000" b="1" dirty="0" err="1">
                <a:latin typeface="Comic Sans MS" panose="030F0702030302020204" pitchFamily="66" charset="0"/>
                <a:ea typeface="+mn-lt"/>
                <a:cs typeface="+mn-lt"/>
              </a:rPr>
              <a:t>theme,Light</a:t>
            </a:r>
            <a:r>
              <a:rPr lang="en-US" sz="2000" b="1" dirty="0">
                <a:latin typeface="Comic Sans MS" panose="030F0702030302020204" pitchFamily="66" charset="0"/>
                <a:ea typeface="+mn-lt"/>
                <a:cs typeface="+mn-lt"/>
              </a:rPr>
              <a:t> theme</a:t>
            </a:r>
          </a:p>
          <a:p>
            <a:r>
              <a:rPr lang="en-US" sz="2000" b="1" dirty="0">
                <a:latin typeface="Comic Sans MS" panose="030F0702030302020204" pitchFamily="66" charset="0"/>
                <a:ea typeface="+mn-lt"/>
                <a:cs typeface="+mn-lt"/>
              </a:rPr>
              <a:t>Music</a:t>
            </a:r>
          </a:p>
          <a:p>
            <a:r>
              <a:rPr lang="en-US" sz="2000" b="1" dirty="0">
                <a:latin typeface="Comic Sans MS" panose="030F0702030302020204" pitchFamily="66" charset="0"/>
                <a:ea typeface="+mn-lt"/>
                <a:cs typeface="+mn-lt"/>
              </a:rPr>
              <a:t>Multiple birds</a:t>
            </a:r>
          </a:p>
          <a:p>
            <a:r>
              <a:rPr lang="en-US" sz="2000" b="1" dirty="0">
                <a:latin typeface="Comic Sans MS" panose="030F0702030302020204" pitchFamily="66" charset="0"/>
                <a:ea typeface="+mn-lt"/>
                <a:cs typeface="+mn-lt"/>
              </a:rPr>
              <a:t>Speed booster</a:t>
            </a:r>
          </a:p>
          <a:p>
            <a:r>
              <a:rPr lang="en-US" sz="2000" b="1" dirty="0">
                <a:latin typeface="Comic Sans MS" panose="030F0702030302020204" pitchFamily="66" charset="0"/>
                <a:ea typeface="+mn-lt"/>
                <a:cs typeface="+mn-lt"/>
              </a:rPr>
              <a:t>Level ups</a:t>
            </a:r>
          </a:p>
          <a:p>
            <a:r>
              <a:rPr lang="en-US" sz="2000" b="1" dirty="0">
                <a:latin typeface="Comic Sans MS" panose="030F0702030302020204" pitchFamily="66" charset="0"/>
                <a:ea typeface="+mn-lt"/>
                <a:cs typeface="+mn-lt"/>
              </a:rPr>
              <a:t>Pause-Play Options</a:t>
            </a:r>
          </a:p>
          <a:p>
            <a:endParaRPr lang="en-US" sz="2000" b="1" dirty="0">
              <a:ea typeface="+mn-lt"/>
              <a:cs typeface="+mn-lt"/>
            </a:endParaRPr>
          </a:p>
          <a:p>
            <a:pPr marL="0" indent="0">
              <a:buNone/>
            </a:pPr>
            <a:endParaRPr lang="en-US" sz="1000" b="1" dirty="0"/>
          </a:p>
        </p:txBody>
      </p:sp>
      <p:pic>
        <p:nvPicPr>
          <p:cNvPr id="4" name="Google Shape;167;p35"/>
          <p:cNvPicPr/>
          <p:nvPr/>
        </p:nvPicPr>
        <p:blipFill>
          <a:blip r:embed="rId2"/>
          <a:srcRect t="4544" b="4555"/>
          <a:stretch/>
        </p:blipFill>
        <p:spPr>
          <a:xfrm>
            <a:off x="8477794" y="4049486"/>
            <a:ext cx="3148149" cy="2272936"/>
          </a:xfrm>
          <a:prstGeom prst="rect">
            <a:avLst/>
          </a:prstGeom>
          <a:ln w="0">
            <a:noFill/>
          </a:ln>
        </p:spPr>
      </p:pic>
    </p:spTree>
    <p:extLst>
      <p:ext uri="{BB962C8B-B14F-4D97-AF65-F5344CB8AC3E}">
        <p14:creationId xmlns:p14="http://schemas.microsoft.com/office/powerpoint/2010/main" val="3077713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ADB9F-C97C-9769-7D3F-B831165AB4F9}"/>
              </a:ext>
            </a:extLst>
          </p:cNvPr>
          <p:cNvSpPr>
            <a:spLocks noGrp="1"/>
          </p:cNvSpPr>
          <p:nvPr>
            <p:ph type="title"/>
          </p:nvPr>
        </p:nvSpPr>
        <p:spPr/>
        <p:txBody>
          <a:bodyPr/>
          <a:lstStyle/>
          <a:p>
            <a:r>
              <a:rPr lang="en-US" b="1" dirty="0">
                <a:solidFill>
                  <a:schemeClr val="accent1"/>
                </a:solidFill>
                <a:latin typeface="Comic Sans MS" panose="030F0702030302020204" pitchFamily="66" charset="0"/>
              </a:rPr>
              <a:t>Testing</a:t>
            </a:r>
          </a:p>
        </p:txBody>
      </p:sp>
      <p:pic>
        <p:nvPicPr>
          <p:cNvPr id="4" name="Picture 3" descr="A screenshot of a video game&#10;&#10;AI-generated content may be incorrect.">
            <a:extLst>
              <a:ext uri="{FF2B5EF4-FFF2-40B4-BE49-F238E27FC236}">
                <a16:creationId xmlns:a16="http://schemas.microsoft.com/office/drawing/2014/main" id="{429D15E9-0F1C-9445-58A4-1CF4ED2CC123}"/>
              </a:ext>
            </a:extLst>
          </p:cNvPr>
          <p:cNvPicPr>
            <a:picLocks noChangeAspect="1"/>
          </p:cNvPicPr>
          <p:nvPr/>
        </p:nvPicPr>
        <p:blipFill>
          <a:blip r:embed="rId2"/>
          <a:stretch>
            <a:fillRect/>
          </a:stretch>
        </p:blipFill>
        <p:spPr>
          <a:xfrm>
            <a:off x="594494" y="2257994"/>
            <a:ext cx="2869931" cy="2426292"/>
          </a:xfrm>
          <a:prstGeom prst="rect">
            <a:avLst/>
          </a:prstGeom>
        </p:spPr>
      </p:pic>
      <p:sp>
        <p:nvSpPr>
          <p:cNvPr id="5" name="Rectangle 1"/>
          <p:cNvSpPr>
            <a:spLocks noGrp="1" noChangeArrowheads="1"/>
          </p:cNvSpPr>
          <p:nvPr>
            <p:ph idx="1"/>
          </p:nvPr>
        </p:nvSpPr>
        <p:spPr bwMode="auto">
          <a:xfrm>
            <a:off x="3696788" y="2368112"/>
            <a:ext cx="803365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Comic Sans MS" panose="030F0702030302020204" pitchFamily="66" charset="0"/>
              </a:rPr>
              <a:t>Functional Testing:</a:t>
            </a:r>
            <a:r>
              <a:rPr kumimoji="0" lang="en-US" sz="1800" b="0" i="0" u="none" strike="noStrike" cap="none" normalizeH="0" baseline="0" dirty="0">
                <a:ln>
                  <a:noFill/>
                </a:ln>
                <a:solidFill>
                  <a:schemeClr val="tx1"/>
                </a:solidFill>
                <a:effectLst/>
                <a:latin typeface="Comic Sans MS" panose="030F0702030302020204" pitchFamily="66" charset="0"/>
              </a:rPr>
              <a:t> Verified core mechanics (bird flap, pipe movement, scoring, collision, pause, theme </a:t>
            </a:r>
            <a:r>
              <a:rPr kumimoji="0" lang="en-US" sz="1800" b="0" i="0" u="none" strike="noStrike" cap="none" normalizeH="0" baseline="0" dirty="0" err="1">
                <a:ln>
                  <a:noFill/>
                </a:ln>
                <a:solidFill>
                  <a:schemeClr val="tx1"/>
                </a:solidFill>
                <a:effectLst/>
                <a:latin typeface="Comic Sans MS" panose="030F0702030302020204" pitchFamily="66" charset="0"/>
              </a:rPr>
              <a:t>switch,music,bird</a:t>
            </a:r>
            <a:r>
              <a:rPr kumimoji="0" lang="en-US" sz="1800" b="0" i="0" u="none" strike="noStrike" cap="none" normalizeH="0" dirty="0">
                <a:ln>
                  <a:noFill/>
                </a:ln>
                <a:solidFill>
                  <a:schemeClr val="tx1"/>
                </a:solidFill>
                <a:effectLst/>
                <a:latin typeface="Comic Sans MS" panose="030F0702030302020204" pitchFamily="66" charset="0"/>
              </a:rPr>
              <a:t> selection,</a:t>
            </a:r>
            <a:r>
              <a:rPr kumimoji="0" lang="en-US" sz="1800" b="0" i="0" u="none" strike="noStrike" cap="none" normalizeH="0" baseline="0" dirty="0">
                <a:ln>
                  <a:noFill/>
                </a:ln>
                <a:solidFill>
                  <a:schemeClr val="tx1"/>
                </a:solidFill>
                <a:effectLst/>
                <a:latin typeface="Comic Sans MS" panose="030F0702030302020204" pitchFamily="66" charset="0"/>
              </a:rPr>
              <a:t> high score).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Comic Sans MS" panose="030F0702030302020204" pitchFamily="66" charset="0"/>
              </a:rPr>
              <a:t>Usability Testing:</a:t>
            </a:r>
            <a:r>
              <a:rPr kumimoji="0" lang="en-US" sz="1800" b="0" i="0" u="none" strike="noStrike" cap="none" normalizeH="0" baseline="0" dirty="0">
                <a:ln>
                  <a:noFill/>
                </a:ln>
                <a:solidFill>
                  <a:schemeClr val="tx1"/>
                </a:solidFill>
                <a:effectLst/>
                <a:latin typeface="Comic Sans MS" panose="030F0702030302020204" pitchFamily="66" charset="0"/>
              </a:rPr>
              <a:t> Ensured intuitive controls and clear feedback (tutorial, dashboard readability).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Comic Sans MS" panose="030F0702030302020204" pitchFamily="66" charset="0"/>
              </a:rPr>
              <a:t>Performance Testing:</a:t>
            </a:r>
            <a:r>
              <a:rPr kumimoji="0" lang="en-US" sz="1800" b="0" i="0" u="none" strike="noStrike" cap="none" normalizeH="0" baseline="0" dirty="0">
                <a:ln>
                  <a:noFill/>
                </a:ln>
                <a:solidFill>
                  <a:schemeClr val="tx1"/>
                </a:solidFill>
                <a:effectLst/>
                <a:latin typeface="Comic Sans MS" panose="030F0702030302020204" pitchFamily="66" charset="0"/>
              </a:rPr>
              <a:t> Monitored frame rate for smooth gameplay under various conditions (normal play, level changes).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Comic Sans MS" panose="030F0702030302020204" pitchFamily="66" charset="0"/>
              </a:rPr>
              <a:t>Edge Case Testing:</a:t>
            </a:r>
            <a:r>
              <a:rPr kumimoji="0" lang="en-US" sz="1800" b="0" i="0" u="none" strike="noStrike" cap="none" normalizeH="0" baseline="0" dirty="0">
                <a:ln>
                  <a:noFill/>
                </a:ln>
                <a:solidFill>
                  <a:schemeClr val="tx1"/>
                </a:solidFill>
                <a:effectLst/>
                <a:latin typeface="Comic Sans MS" panose="030F0702030302020204" pitchFamily="66" charset="0"/>
              </a:rPr>
              <a:t> Checked behavior at screen boundaries, during rapid actions, and with high scores.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Comic Sans MS" panose="030F0702030302020204" pitchFamily="66" charset="0"/>
              </a:rPr>
              <a:t>Positive Results:</a:t>
            </a:r>
            <a:r>
              <a:rPr kumimoji="0" lang="en-US" sz="1800" b="0" i="0" u="none" strike="noStrike" cap="none" normalizeH="0" baseline="0" dirty="0">
                <a:ln>
                  <a:noFill/>
                </a:ln>
                <a:solidFill>
                  <a:schemeClr val="tx1"/>
                </a:solidFill>
                <a:effectLst/>
                <a:latin typeface="Comic Sans MS" panose="030F0702030302020204" pitchFamily="66" charset="0"/>
              </a:rPr>
              <a:t> Core functionalities operated as expected, user feedback on key additions was positive. </a:t>
            </a:r>
          </a:p>
        </p:txBody>
      </p:sp>
    </p:spTree>
    <p:extLst>
      <p:ext uri="{BB962C8B-B14F-4D97-AF65-F5344CB8AC3E}">
        <p14:creationId xmlns:p14="http://schemas.microsoft.com/office/powerpoint/2010/main" val="175578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2443" y="600183"/>
            <a:ext cx="8911687" cy="1280890"/>
          </a:xfrm>
        </p:spPr>
        <p:txBody>
          <a:bodyPr/>
          <a:lstStyle/>
          <a:p>
            <a:r>
              <a:rPr lang="en-US" dirty="0">
                <a:latin typeface="Comic Sans MS" panose="030F0702030302020204" pitchFamily="66" charset="0"/>
              </a:rPr>
              <a:t>Additional features</a:t>
            </a:r>
            <a:br>
              <a:rPr lang="en-US" dirty="0">
                <a:latin typeface="Comic Sans MS" panose="030F0702030302020204" pitchFamily="66" charset="0"/>
              </a:rPr>
            </a:br>
            <a:endParaRPr lang="en-IN" dirty="0">
              <a:latin typeface="Comic Sans MS" panose="030F0702030302020204" pitchFamily="66" charset="0"/>
            </a:endParaRPr>
          </a:p>
        </p:txBody>
      </p:sp>
      <p:sp>
        <p:nvSpPr>
          <p:cNvPr id="3" name="Content Placeholder 2"/>
          <p:cNvSpPr>
            <a:spLocks noGrp="1"/>
          </p:cNvSpPr>
          <p:nvPr>
            <p:ph idx="1"/>
          </p:nvPr>
        </p:nvSpPr>
        <p:spPr>
          <a:xfrm>
            <a:off x="1110343" y="1214847"/>
            <a:ext cx="10394269" cy="4715690"/>
          </a:xfrm>
        </p:spPr>
        <p:txBody>
          <a:bodyPr/>
          <a:lstStyle/>
          <a:p>
            <a:pPr marL="0" indent="0">
              <a:buNone/>
            </a:pPr>
            <a:endParaRPr lang="en-US" dirty="0"/>
          </a:p>
          <a:p>
            <a:r>
              <a:rPr lang="en-US" dirty="0">
                <a:latin typeface="Comic Sans MS" panose="030F0702030302020204" pitchFamily="66" charset="0"/>
              </a:rPr>
              <a:t>Pause and Play options:</a:t>
            </a:r>
          </a:p>
          <a:p>
            <a:r>
              <a:rPr lang="en-US" dirty="0">
                <a:latin typeface="Comic Sans MS" panose="030F0702030302020204" pitchFamily="66" charset="0"/>
              </a:rPr>
              <a:t>Speed Booster</a:t>
            </a:r>
          </a:p>
          <a:p>
            <a:r>
              <a:rPr lang="en-US" dirty="0">
                <a:latin typeface="Comic Sans MS" panose="030F0702030302020204" pitchFamily="66" charset="0"/>
              </a:rPr>
              <a:t>Music</a:t>
            </a:r>
          </a:p>
          <a:p>
            <a:r>
              <a:rPr lang="en-US" dirty="0">
                <a:latin typeface="Comic Sans MS" panose="030F0702030302020204" pitchFamily="66" charset="0"/>
              </a:rPr>
              <a:t>Character selection:</a:t>
            </a:r>
          </a:p>
          <a:p>
            <a:pPr marL="0" indent="0">
              <a:buNone/>
            </a:pPr>
            <a:endParaRPr lang="en-IN" dirty="0"/>
          </a:p>
          <a:p>
            <a:pPr marL="0" indent="0">
              <a:buNone/>
            </a:pPr>
            <a:endParaRPr lang="en-I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6549" y="3742509"/>
            <a:ext cx="1881051" cy="1881051"/>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9201" y="3742509"/>
            <a:ext cx="1781521" cy="1922073"/>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0961" y="3742509"/>
            <a:ext cx="1783080" cy="1783080"/>
          </a:xfrm>
          <a:prstGeom prst="rect">
            <a:avLst/>
          </a:prstGeom>
        </p:spPr>
      </p:pic>
    </p:spTree>
    <p:extLst>
      <p:ext uri="{BB962C8B-B14F-4D97-AF65-F5344CB8AC3E}">
        <p14:creationId xmlns:p14="http://schemas.microsoft.com/office/powerpoint/2010/main" val="1449018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1417" y="875211"/>
            <a:ext cx="9963195" cy="5036011"/>
          </a:xfrm>
        </p:spPr>
        <p:txBody>
          <a:bodyPr/>
          <a:lstStyle/>
          <a:p>
            <a:r>
              <a:rPr lang="en-US" dirty="0">
                <a:latin typeface="Comic Sans MS" panose="030F0702030302020204" pitchFamily="66" charset="0"/>
              </a:rPr>
              <a:t>Theme:</a:t>
            </a:r>
          </a:p>
          <a:p>
            <a:endParaRPr lang="en-US" dirty="0"/>
          </a:p>
          <a:p>
            <a:pPr marL="0" indent="0">
              <a:buNone/>
            </a:pPr>
            <a:r>
              <a:rPr lang="en-US" dirty="0"/>
              <a:t>    </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806" y="1887336"/>
            <a:ext cx="5798134" cy="371662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3014" y="1887335"/>
            <a:ext cx="5375919" cy="3716629"/>
          </a:xfrm>
          <a:prstGeom prst="rect">
            <a:avLst/>
          </a:prstGeom>
        </p:spPr>
      </p:pic>
    </p:spTree>
    <p:extLst>
      <p:ext uri="{BB962C8B-B14F-4D97-AF65-F5344CB8AC3E}">
        <p14:creationId xmlns:p14="http://schemas.microsoft.com/office/powerpoint/2010/main" val="3506179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C19D0-1D7F-CBFB-CA62-227DF444176C}"/>
              </a:ext>
            </a:extLst>
          </p:cNvPr>
          <p:cNvSpPr>
            <a:spLocks noGrp="1"/>
          </p:cNvSpPr>
          <p:nvPr>
            <p:ph type="title"/>
          </p:nvPr>
        </p:nvSpPr>
        <p:spPr>
          <a:xfrm>
            <a:off x="2592925" y="1149272"/>
            <a:ext cx="8911687" cy="755728"/>
          </a:xfrm>
        </p:spPr>
        <p:txBody>
          <a:bodyPr/>
          <a:lstStyle/>
          <a:p>
            <a:r>
              <a:rPr lang="en-US" b="1" dirty="0">
                <a:solidFill>
                  <a:schemeClr val="accent1"/>
                </a:solidFill>
                <a:latin typeface="Comic Sans MS" panose="030F0702030302020204" pitchFamily="66" charset="0"/>
              </a:rPr>
              <a:t>Results</a:t>
            </a:r>
          </a:p>
        </p:txBody>
      </p:sp>
      <p:sp>
        <p:nvSpPr>
          <p:cNvPr id="3" name="Content Placeholder 2">
            <a:extLst>
              <a:ext uri="{FF2B5EF4-FFF2-40B4-BE49-F238E27FC236}">
                <a16:creationId xmlns:a16="http://schemas.microsoft.com/office/drawing/2014/main" id="{CA53B3A6-5D70-EA00-C9BC-3AEEA4A79EE4}"/>
              </a:ext>
            </a:extLst>
          </p:cNvPr>
          <p:cNvSpPr>
            <a:spLocks noGrp="1"/>
          </p:cNvSpPr>
          <p:nvPr>
            <p:ph idx="1"/>
          </p:nvPr>
        </p:nvSpPr>
        <p:spPr>
          <a:xfrm>
            <a:off x="2484708" y="2956560"/>
            <a:ext cx="8915400" cy="3777622"/>
          </a:xfrm>
        </p:spPr>
        <p:txBody>
          <a:bodyPr vert="horz" lIns="91440" tIns="45720" rIns="91440" bIns="45720" rtlCol="0" anchor="t">
            <a:normAutofit/>
          </a:bodyPr>
          <a:lstStyle/>
          <a:p>
            <a:pPr marL="0" indent="0">
              <a:buNone/>
            </a:pPr>
            <a:r>
              <a:rPr lang="en-US" sz="2000" b="1" dirty="0">
                <a:latin typeface="Comic Sans MS" panose="030F0702030302020204" pitchFamily="66" charset="0"/>
                <a:ea typeface="+mn-lt"/>
                <a:cs typeface="+mn-lt"/>
              </a:rPr>
              <a:t>Everything in our project performed as planned and our team meets the goals outlined in the description. We designed a new flappy bird game with additional features to encourage more users to play and enhance user experience to not be bored of original classic style.</a:t>
            </a:r>
            <a:endParaRPr lang="en-US" sz="2000" b="1" dirty="0">
              <a:latin typeface="Comic Sans MS" panose="030F0702030302020204" pitchFamily="66" charset="0"/>
            </a:endParaRPr>
          </a:p>
        </p:txBody>
      </p:sp>
    </p:spTree>
    <p:extLst>
      <p:ext uri="{BB962C8B-B14F-4D97-AF65-F5344CB8AC3E}">
        <p14:creationId xmlns:p14="http://schemas.microsoft.com/office/powerpoint/2010/main" val="3903163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9378D-081D-03C8-1A9A-86B3DBED929A}"/>
              </a:ext>
            </a:extLst>
          </p:cNvPr>
          <p:cNvSpPr>
            <a:spLocks noGrp="1"/>
          </p:cNvSpPr>
          <p:nvPr>
            <p:ph type="title"/>
          </p:nvPr>
        </p:nvSpPr>
        <p:spPr>
          <a:xfrm>
            <a:off x="2592925" y="1262542"/>
            <a:ext cx="8911687" cy="889593"/>
          </a:xfrm>
        </p:spPr>
        <p:txBody>
          <a:bodyPr/>
          <a:lstStyle/>
          <a:p>
            <a:r>
              <a:rPr lang="en-US" b="1" dirty="0">
                <a:solidFill>
                  <a:schemeClr val="accent1"/>
                </a:solidFill>
                <a:latin typeface="Comic Sans MS" panose="030F0702030302020204" pitchFamily="66" charset="0"/>
              </a:rPr>
              <a:t>Conclusion</a:t>
            </a:r>
          </a:p>
        </p:txBody>
      </p:sp>
      <p:sp>
        <p:nvSpPr>
          <p:cNvPr id="3" name="Content Placeholder 2">
            <a:extLst>
              <a:ext uri="{FF2B5EF4-FFF2-40B4-BE49-F238E27FC236}">
                <a16:creationId xmlns:a16="http://schemas.microsoft.com/office/drawing/2014/main" id="{D762B07C-90EA-7889-CFDA-C9BB05C8B6AC}"/>
              </a:ext>
            </a:extLst>
          </p:cNvPr>
          <p:cNvSpPr>
            <a:spLocks noGrp="1"/>
          </p:cNvSpPr>
          <p:nvPr>
            <p:ph idx="1"/>
          </p:nvPr>
        </p:nvSpPr>
        <p:spPr>
          <a:xfrm>
            <a:off x="2850469" y="3080378"/>
            <a:ext cx="8915400" cy="3777622"/>
          </a:xfrm>
        </p:spPr>
        <p:txBody>
          <a:bodyPr vert="horz" lIns="91440" tIns="45720" rIns="91440" bIns="45720" rtlCol="0" anchor="t">
            <a:normAutofit/>
          </a:bodyPr>
          <a:lstStyle/>
          <a:p>
            <a:r>
              <a:rPr lang="en-US" sz="2000" dirty="0">
                <a:latin typeface="Comic Sans MS" panose="030F0702030302020204" pitchFamily="66" charset="0"/>
              </a:rPr>
              <a:t>The implemented Flappy Bird game successfully recreates the classic core gameplay while integrating several value-added features such as visual themes, a real-time dashboard, dynamic difficulty scaling through level progression, a helpful tutorial, pause functionality, and persistent high score management.</a:t>
            </a:r>
          </a:p>
          <a:p>
            <a:endParaRPr lang="en-US" sz="2000" dirty="0">
              <a:latin typeface="Comic Sans MS" panose="030F0702030302020204" pitchFamily="66" charset="0"/>
            </a:endParaRPr>
          </a:p>
        </p:txBody>
      </p:sp>
    </p:spTree>
    <p:extLst>
      <p:ext uri="{BB962C8B-B14F-4D97-AF65-F5344CB8AC3E}">
        <p14:creationId xmlns:p14="http://schemas.microsoft.com/office/powerpoint/2010/main" val="2857047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79B97-75A6-F0EB-F92E-4EA30E9BA15C}"/>
              </a:ext>
            </a:extLst>
          </p:cNvPr>
          <p:cNvSpPr>
            <a:spLocks noGrp="1"/>
          </p:cNvSpPr>
          <p:nvPr>
            <p:ph type="title"/>
          </p:nvPr>
        </p:nvSpPr>
        <p:spPr>
          <a:xfrm>
            <a:off x="739412" y="850651"/>
            <a:ext cx="653255" cy="446810"/>
          </a:xfrm>
        </p:spPr>
        <p:txBody>
          <a:bodyPr>
            <a:normAutofit/>
          </a:bodyPr>
          <a:lstStyle/>
          <a:p>
            <a:r>
              <a:rPr lang="en-US" sz="800" dirty="0"/>
              <a:t>.</a:t>
            </a:r>
          </a:p>
        </p:txBody>
      </p:sp>
      <p:sp>
        <p:nvSpPr>
          <p:cNvPr id="3" name="Content Placeholder 2">
            <a:extLst>
              <a:ext uri="{FF2B5EF4-FFF2-40B4-BE49-F238E27FC236}">
                <a16:creationId xmlns:a16="http://schemas.microsoft.com/office/drawing/2014/main" id="{6DF1F5CE-6021-F279-C013-E388F5108756}"/>
              </a:ext>
            </a:extLst>
          </p:cNvPr>
          <p:cNvSpPr>
            <a:spLocks noGrp="1"/>
          </p:cNvSpPr>
          <p:nvPr>
            <p:ph idx="1"/>
          </p:nvPr>
        </p:nvSpPr>
        <p:spPr>
          <a:xfrm>
            <a:off x="3042294" y="2895601"/>
            <a:ext cx="7278129" cy="719325"/>
          </a:xfrm>
        </p:spPr>
        <p:txBody>
          <a:bodyPr vert="horz" lIns="91440" tIns="45720" rIns="91440" bIns="45720" rtlCol="0" anchor="t">
            <a:noAutofit/>
          </a:bodyPr>
          <a:lstStyle/>
          <a:p>
            <a:pPr marL="0" indent="0">
              <a:buNone/>
            </a:pPr>
            <a:r>
              <a:rPr lang="en-US" sz="9600" b="1" dirty="0">
                <a:latin typeface="Comic Sans MS" panose="030F0702030302020204" pitchFamily="66" charset="0"/>
              </a:rPr>
              <a:t>Thank You</a:t>
            </a:r>
          </a:p>
        </p:txBody>
      </p:sp>
    </p:spTree>
    <p:extLst>
      <p:ext uri="{BB962C8B-B14F-4D97-AF65-F5344CB8AC3E}">
        <p14:creationId xmlns:p14="http://schemas.microsoft.com/office/powerpoint/2010/main" val="369776791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office theme</Template>
  <TotalTime>969</TotalTime>
  <Words>447</Words>
  <Application>Microsoft Office PowerPoint</Application>
  <PresentationFormat>Widescreen</PresentationFormat>
  <Paragraphs>38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Century Gothic</vt:lpstr>
      <vt:lpstr>Comic Sans MS</vt:lpstr>
      <vt:lpstr>Wingdings 3</vt:lpstr>
      <vt:lpstr>Wisp</vt:lpstr>
      <vt:lpstr>2D Flappy Bird Game</vt:lpstr>
      <vt:lpstr>Introduction</vt:lpstr>
      <vt:lpstr>Project Objective</vt:lpstr>
      <vt:lpstr>Design</vt:lpstr>
      <vt:lpstr>Testing</vt:lpstr>
      <vt:lpstr>Additional features </vt:lpstr>
      <vt:lpstr>PowerPoint Presentation</vt:lpstr>
      <vt:lpstr>Results</vt:lpstr>
      <vt:lpstr>Conclusion</vt:lpstr>
      <vt:lpst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2D Flappy Bird Game</dc:title>
  <dc:creator>LENOVO</dc:creator>
  <cp:lastModifiedBy>varshini gurram</cp:lastModifiedBy>
  <cp:revision>192</cp:revision>
  <dcterms:created xsi:type="dcterms:W3CDTF">2025-04-22T12:22:37Z</dcterms:created>
  <dcterms:modified xsi:type="dcterms:W3CDTF">2025-04-24T04:39:10Z</dcterms:modified>
</cp:coreProperties>
</file>